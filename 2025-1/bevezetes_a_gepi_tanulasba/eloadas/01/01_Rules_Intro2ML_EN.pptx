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82" r:id="rId3"/>
    <p:sldId id="284" r:id="rId4"/>
    <p:sldId id="279" r:id="rId5"/>
    <p:sldId id="285" r:id="rId6"/>
    <p:sldId id="281" r:id="rId7"/>
    <p:sldId id="259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D737E8-8FFC-43E4-AAEC-57A7794BE212}" v="35" dt="2022-07-13T10:21:40.478"/>
    <p1510:client id="{B6CA28CC-5A98-40EC-9411-0FCFDF3CC834}" v="5" dt="2022-07-13T10:28:14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6968" autoAdjust="0"/>
  </p:normalViewPr>
  <p:slideViewPr>
    <p:cSldViewPr snapToGrid="0">
      <p:cViewPr varScale="1">
        <p:scale>
          <a:sx n="122" d="100"/>
          <a:sy n="122" d="100"/>
        </p:scale>
        <p:origin x="171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1A839-F3E4-4D9D-A525-BAD91030AC63}" type="datetimeFigureOut">
              <a:rPr lang="hu-HU" smtClean="0"/>
              <a:t>2025. 12. 13.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62000-11C5-4D5A-AC79-6C282017C8B5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3001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62000-11C5-4D5A-AC79-6C282017C8B5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76932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8ECCF109-5704-477E-995D-F88760F42F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2099CC8-E10B-4B36-B7D6-73FB509C04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8456" y="2001838"/>
            <a:ext cx="8385544" cy="1879046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 </a:t>
            </a:r>
            <a:r>
              <a:rPr lang="en-US" noProof="0" dirty="0" err="1"/>
              <a:t>Cím</a:t>
            </a:r>
            <a:endParaRPr lang="en-US" noProof="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7666E9E-197D-46A2-9B6B-457BE70D5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456" y="3955410"/>
            <a:ext cx="5971953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 err="1"/>
              <a:t>Kattintson</a:t>
            </a:r>
            <a:r>
              <a:rPr lang="en-US" noProof="0" dirty="0"/>
              <a:t> ide </a:t>
            </a:r>
            <a:r>
              <a:rPr lang="en-US" noProof="0" dirty="0" err="1"/>
              <a:t>az</a:t>
            </a:r>
            <a:r>
              <a:rPr lang="en-US" noProof="0" dirty="0"/>
              <a:t> </a:t>
            </a:r>
            <a:r>
              <a:rPr lang="en-US" noProof="0" dirty="0" err="1"/>
              <a:t>alcím</a:t>
            </a:r>
            <a:r>
              <a:rPr lang="en-US" noProof="0" dirty="0"/>
              <a:t> </a:t>
            </a:r>
            <a:r>
              <a:rPr lang="en-US" noProof="0" dirty="0" err="1"/>
              <a:t>mintájának</a:t>
            </a:r>
            <a:r>
              <a:rPr lang="en-US" noProof="0" dirty="0"/>
              <a:t> </a:t>
            </a:r>
            <a:r>
              <a:rPr lang="en-US" noProof="0" dirty="0" err="1"/>
              <a:t>szerkesztéséhez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332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562F4D36-E609-41C9-90D1-FB97F816B3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7608"/>
            <a:ext cx="12192000" cy="850392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4D0EA0-45A6-4BA8-B853-EB441A338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719"/>
            <a:ext cx="10515600" cy="4844340"/>
          </a:xfrm>
        </p:spPr>
        <p:txBody>
          <a:bodyPr/>
          <a:lstStyle/>
          <a:p>
            <a:pPr lvl="0"/>
            <a:r>
              <a:rPr lang="en-US" noProof="0" dirty="0" err="1"/>
              <a:t>Mintaszöveg</a:t>
            </a:r>
            <a:r>
              <a:rPr lang="en-US" noProof="0" dirty="0"/>
              <a:t> </a:t>
            </a:r>
            <a:r>
              <a:rPr lang="en-US" noProof="0" dirty="0" err="1"/>
              <a:t>szerkesztése</a:t>
            </a:r>
            <a:endParaRPr lang="en-US" noProof="0" dirty="0"/>
          </a:p>
          <a:p>
            <a:pPr lvl="1"/>
            <a:r>
              <a:rPr lang="en-US" noProof="0" dirty="0" err="1"/>
              <a:t>Második</a:t>
            </a:r>
            <a:r>
              <a:rPr lang="en-US" noProof="0" dirty="0"/>
              <a:t> </a:t>
            </a:r>
            <a:r>
              <a:rPr lang="en-US" noProof="0" dirty="0" err="1"/>
              <a:t>szint</a:t>
            </a:r>
            <a:endParaRPr lang="en-US" noProof="0" dirty="0"/>
          </a:p>
          <a:p>
            <a:pPr lvl="2"/>
            <a:r>
              <a:rPr lang="en-US" noProof="0" dirty="0" err="1"/>
              <a:t>Harmadik</a:t>
            </a:r>
            <a:r>
              <a:rPr lang="en-US" noProof="0" dirty="0"/>
              <a:t> </a:t>
            </a:r>
            <a:r>
              <a:rPr lang="en-US" noProof="0" dirty="0" err="1"/>
              <a:t>szint</a:t>
            </a:r>
            <a:endParaRPr lang="en-US" noProof="0" dirty="0"/>
          </a:p>
          <a:p>
            <a:pPr lvl="3"/>
            <a:r>
              <a:rPr lang="en-US" noProof="0" dirty="0" err="1"/>
              <a:t>Negyedik</a:t>
            </a:r>
            <a:r>
              <a:rPr lang="en-US" noProof="0" dirty="0"/>
              <a:t> </a:t>
            </a:r>
            <a:r>
              <a:rPr lang="en-US" noProof="0" dirty="0" err="1"/>
              <a:t>szint</a:t>
            </a:r>
            <a:endParaRPr lang="en-US" noProof="0" dirty="0"/>
          </a:p>
          <a:p>
            <a:pPr lvl="4"/>
            <a:r>
              <a:rPr lang="en-US" noProof="0" dirty="0" err="1"/>
              <a:t>Ötödik</a:t>
            </a:r>
            <a:r>
              <a:rPr lang="en-US" noProof="0" dirty="0"/>
              <a:t> </a:t>
            </a:r>
            <a:r>
              <a:rPr lang="en-US" noProof="0" dirty="0" err="1"/>
              <a:t>szint</a:t>
            </a:r>
            <a:endParaRPr lang="en-US" noProof="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8832DA9-CA69-4206-9F01-34D50025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197A7F-1DAF-4896-9C1F-70526E13ECB8}" type="datetime1">
              <a:rPr lang="hu-HU" smtClean="0"/>
              <a:t>2025. 12. 13.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C99101-8484-49DB-8614-AA603623D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A8126B1-8F10-41BC-8CD1-2F453122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7ECEBC-3B63-4262-8BE9-06366B519A9F}" type="slidenum">
              <a:rPr lang="hu-HU" smtClean="0"/>
              <a:pPr/>
              <a:t>‹#›</a:t>
            </a:fld>
            <a:endParaRPr lang="hu-HU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F39F033D-BDC1-4A37-B1AE-1771A4C4A525}"/>
              </a:ext>
            </a:extLst>
          </p:cNvPr>
          <p:cNvCxnSpPr/>
          <p:nvPr userDrawn="1"/>
        </p:nvCxnSpPr>
        <p:spPr>
          <a:xfrm>
            <a:off x="757931" y="900846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ím 8">
            <a:extLst>
              <a:ext uri="{FF2B5EF4-FFF2-40B4-BE49-F238E27FC236}">
                <a16:creationId xmlns:a16="http://schemas.microsoft.com/office/drawing/2014/main" id="{5D3147A7-1ECF-4863-B38D-0F818A83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1"/>
            <a:ext cx="10515600" cy="714893"/>
          </a:xfrm>
        </p:spPr>
        <p:txBody>
          <a:bodyPr/>
          <a:lstStyle/>
          <a:p>
            <a:r>
              <a:rPr lang="en-US" noProof="0" dirty="0" err="1"/>
              <a:t>Mintacím</a:t>
            </a:r>
            <a:r>
              <a:rPr lang="en-US" noProof="0" dirty="0"/>
              <a:t> </a:t>
            </a:r>
            <a:r>
              <a:rPr lang="en-US" noProof="0" dirty="0" err="1"/>
              <a:t>szerkesztése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24306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3826ED7A-1BF2-4FC0-99C4-00E480B589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7608"/>
            <a:ext cx="12192000" cy="850392"/>
          </a:xfrm>
          <a:prstGeom prst="rect">
            <a:avLst/>
          </a:prstGeo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935D0D00-64F6-43E5-A09F-CE1A72DD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1AABAB-CCF8-4EFD-8775-A3483F0DA1E6}" type="datetime1">
              <a:rPr lang="en-US" noProof="0" smtClean="0"/>
              <a:t>12/13/2025</a:t>
            </a:fld>
            <a:endParaRPr lang="en-US" noProof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7FCAE8-AACD-454B-90DC-8E6F10DD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129FE1C-4208-4AC1-8887-5D6682C5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7ECEBC-3B63-4262-8BE9-06366B519A9F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87CA6B5F-37D6-4D51-A799-1D3B7514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807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0"/>
              <a:t>Mintacím szerkesztése</a:t>
            </a:r>
          </a:p>
        </p:txBody>
      </p:sp>
      <p:sp>
        <p:nvSpPr>
          <p:cNvPr id="9" name="Szöveg helye 2">
            <a:extLst>
              <a:ext uri="{FF2B5EF4-FFF2-40B4-BE49-F238E27FC236}">
                <a16:creationId xmlns:a16="http://schemas.microsoft.com/office/drawing/2014/main" id="{37450994-A704-40CC-B01C-B1774AC0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619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69850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88EA3FA3-E579-4B32-AFB8-88A2F2221E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7608"/>
            <a:ext cx="12192000" cy="850392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54009BD-B1D6-40CF-96E2-BD0066FE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DCEEF1-ECCE-4C54-99B5-75CBFD404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05324"/>
            <a:ext cx="5181600" cy="4894735"/>
          </a:xfrm>
        </p:spPr>
        <p:txBody>
          <a:bodyPr/>
          <a:lstStyle/>
          <a:p>
            <a:pPr lvl="0"/>
            <a:r>
              <a:rPr lang="en-US" noProof="0"/>
              <a:t>Mintaszöveg szerkesztése</a:t>
            </a:r>
          </a:p>
          <a:p>
            <a:pPr lvl="1"/>
            <a:r>
              <a:rPr lang="en-US" noProof="0"/>
              <a:t>Második szint</a:t>
            </a:r>
          </a:p>
          <a:p>
            <a:pPr lvl="2"/>
            <a:r>
              <a:rPr lang="en-US" noProof="0"/>
              <a:t>Harmadik szint</a:t>
            </a:r>
          </a:p>
          <a:p>
            <a:pPr lvl="3"/>
            <a:r>
              <a:rPr lang="en-US" noProof="0"/>
              <a:t>Negyedik szint</a:t>
            </a:r>
          </a:p>
          <a:p>
            <a:pPr lvl="4"/>
            <a:r>
              <a:rPr lang="en-US" noProof="0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E5EA962-DF13-43A3-A84E-80C2FCB47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05324"/>
            <a:ext cx="5181600" cy="4894735"/>
          </a:xfrm>
        </p:spPr>
        <p:txBody>
          <a:bodyPr/>
          <a:lstStyle/>
          <a:p>
            <a:pPr lvl="0"/>
            <a:r>
              <a:rPr lang="en-US" noProof="0"/>
              <a:t>Mintaszöveg szerkesztése</a:t>
            </a:r>
          </a:p>
          <a:p>
            <a:pPr lvl="1"/>
            <a:r>
              <a:rPr lang="en-US" noProof="0"/>
              <a:t>Második szint</a:t>
            </a:r>
          </a:p>
          <a:p>
            <a:pPr lvl="2"/>
            <a:r>
              <a:rPr lang="en-US" noProof="0"/>
              <a:t>Harmadik szint</a:t>
            </a:r>
          </a:p>
          <a:p>
            <a:pPr lvl="3"/>
            <a:r>
              <a:rPr lang="en-US" noProof="0"/>
              <a:t>Negyedik szint</a:t>
            </a:r>
          </a:p>
          <a:p>
            <a:pPr lvl="4"/>
            <a:r>
              <a:rPr lang="en-US" noProof="0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64E610F-7E0C-4CB7-BA19-9B3BCAA1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86A98E5-7FAA-4267-90DB-9E7BCE3DBFB1}" type="datetime1">
              <a:rPr lang="en-US" noProof="0" smtClean="0"/>
              <a:t>12/13/2025</a:t>
            </a:fld>
            <a:endParaRPr lang="en-US" noProof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D893640-7157-4D03-A818-DB22C4C83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913BE1C-AC49-4FB1-BE73-84887BF0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7ECEBC-3B63-4262-8BE9-06366B519A9F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E51596C2-2264-4B65-8048-6E5DD282DCF1}"/>
              </a:ext>
            </a:extLst>
          </p:cNvPr>
          <p:cNvCxnSpPr/>
          <p:nvPr userDrawn="1"/>
        </p:nvCxnSpPr>
        <p:spPr>
          <a:xfrm>
            <a:off x="757931" y="897775"/>
            <a:ext cx="10676138" cy="0"/>
          </a:xfrm>
          <a:prstGeom prst="line">
            <a:avLst/>
          </a:prstGeom>
          <a:ln>
            <a:solidFill>
              <a:srgbClr val="0128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0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4BE49CD-7DB0-4867-A82C-04FE37ED9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005"/>
            <a:ext cx="10515600" cy="764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 dirty="0" err="1"/>
              <a:t>Mintacím</a:t>
            </a:r>
            <a:r>
              <a:rPr lang="en-US" noProof="0" dirty="0"/>
              <a:t> </a:t>
            </a:r>
            <a:r>
              <a:rPr lang="en-US" noProof="0" dirty="0" err="1"/>
              <a:t>szerkesztése</a:t>
            </a:r>
            <a:endParaRPr lang="en-US" noProof="0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EFE073D-886B-4598-84CB-8ECE74014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39091"/>
            <a:ext cx="10515600" cy="513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Mintaszöveg</a:t>
            </a:r>
            <a:r>
              <a:rPr lang="en-US" noProof="0" dirty="0"/>
              <a:t> </a:t>
            </a:r>
            <a:r>
              <a:rPr lang="en-US" noProof="0" dirty="0" err="1"/>
              <a:t>szerkesztése</a:t>
            </a:r>
            <a:endParaRPr lang="en-US" noProof="0" dirty="0"/>
          </a:p>
          <a:p>
            <a:pPr lvl="1"/>
            <a:r>
              <a:rPr lang="en-US" noProof="0" dirty="0" err="1"/>
              <a:t>Második</a:t>
            </a:r>
            <a:r>
              <a:rPr lang="en-US" noProof="0" dirty="0"/>
              <a:t> </a:t>
            </a:r>
            <a:r>
              <a:rPr lang="en-US" noProof="0" dirty="0" err="1"/>
              <a:t>szint</a:t>
            </a:r>
            <a:endParaRPr lang="en-US" noProof="0" dirty="0"/>
          </a:p>
          <a:p>
            <a:pPr lvl="2"/>
            <a:r>
              <a:rPr lang="en-US" noProof="0" dirty="0" err="1"/>
              <a:t>Harmadik</a:t>
            </a:r>
            <a:r>
              <a:rPr lang="en-US" noProof="0" dirty="0"/>
              <a:t> </a:t>
            </a:r>
            <a:r>
              <a:rPr lang="en-US" noProof="0" dirty="0" err="1"/>
              <a:t>szint</a:t>
            </a:r>
            <a:endParaRPr lang="en-US" noProof="0" dirty="0"/>
          </a:p>
          <a:p>
            <a:pPr lvl="3"/>
            <a:r>
              <a:rPr lang="en-US" noProof="0" dirty="0" err="1"/>
              <a:t>Negyedik</a:t>
            </a:r>
            <a:r>
              <a:rPr lang="en-US" noProof="0" dirty="0"/>
              <a:t> </a:t>
            </a:r>
            <a:r>
              <a:rPr lang="en-US" noProof="0" dirty="0" err="1"/>
              <a:t>szint</a:t>
            </a:r>
            <a:endParaRPr lang="en-US" noProof="0" dirty="0"/>
          </a:p>
          <a:p>
            <a:pPr lvl="4"/>
            <a:r>
              <a:rPr lang="en-US" noProof="0" dirty="0" err="1"/>
              <a:t>Ötödik</a:t>
            </a:r>
            <a:r>
              <a:rPr lang="en-US" noProof="0" dirty="0"/>
              <a:t> </a:t>
            </a:r>
            <a:r>
              <a:rPr lang="en-US" noProof="0" dirty="0" err="1"/>
              <a:t>szint</a:t>
            </a:r>
            <a:endParaRPr lang="en-US" noProof="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FD0B117-7C65-4A5E-9015-006CDE6F5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36550" y="6247425"/>
            <a:ext cx="1378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92A15-7B04-448F-A256-02DAB50045DD}" type="datetime1">
              <a:rPr lang="hu-HU" smtClean="0"/>
              <a:t>2025. 12. 13.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FC661A3-2442-48FA-8301-97C4F681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14776" y="62474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D2739BB-063D-4B62-8ACA-7C4EAA396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31626" y="6257089"/>
            <a:ext cx="1822174" cy="357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ECEBC-3B63-4262-8BE9-06366B519A9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2700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1285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285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1285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1285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285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285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887D79-A9CC-4FD1-A8B9-D42E56372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456" y="2214489"/>
            <a:ext cx="8385544" cy="1428382"/>
          </a:xfrm>
        </p:spPr>
        <p:txBody>
          <a:bodyPr>
            <a:normAutofit/>
          </a:bodyPr>
          <a:lstStyle/>
          <a:p>
            <a:r>
              <a:rPr lang="en-GB" sz="5400" cap="all" dirty="0"/>
              <a:t>Rules and Mindset</a:t>
            </a:r>
            <a:endParaRPr lang="en-GB" sz="360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008CD27-A5B1-404F-912A-5BDFA6CAD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456" y="3686270"/>
            <a:ext cx="7970874" cy="1306350"/>
          </a:xfrm>
        </p:spPr>
        <p:txBody>
          <a:bodyPr>
            <a:normAutofit/>
          </a:bodyPr>
          <a:lstStyle/>
          <a:p>
            <a:r>
              <a:rPr lang="hu-HU" sz="2000" dirty="0" err="1"/>
              <a:t>Introduction</a:t>
            </a:r>
            <a:r>
              <a:rPr lang="hu-HU" sz="2000" dirty="0"/>
              <a:t> </a:t>
            </a:r>
            <a:r>
              <a:rPr lang="hu-HU" sz="2000" dirty="0" err="1"/>
              <a:t>to</a:t>
            </a:r>
            <a:r>
              <a:rPr lang="hu-HU" sz="2000" dirty="0"/>
              <a:t> </a:t>
            </a:r>
            <a:r>
              <a:rPr lang="hu-HU" sz="2000" dirty="0" err="1"/>
              <a:t>Machine</a:t>
            </a:r>
            <a:r>
              <a:rPr lang="hu-HU" sz="2000" dirty="0"/>
              <a:t> </a:t>
            </a:r>
            <a:r>
              <a:rPr lang="hu-HU" sz="2000" dirty="0" err="1"/>
              <a:t>Learning</a:t>
            </a:r>
            <a:br>
              <a:rPr lang="hu-HU" sz="2000" dirty="0"/>
            </a:br>
            <a:r>
              <a:rPr lang="hu-HU" sz="2000" dirty="0"/>
              <a:t>Bevezetés a Gépi tanulásba</a:t>
            </a:r>
            <a:br>
              <a:rPr lang="hu-HU" sz="2000" dirty="0"/>
            </a:br>
            <a:br>
              <a:rPr lang="en-US" sz="2000" dirty="0"/>
            </a:br>
            <a:r>
              <a:rPr lang="en-US" sz="2000" dirty="0"/>
              <a:t>Balázs Nagy, PhD</a:t>
            </a:r>
          </a:p>
        </p:txBody>
      </p:sp>
      <p:grpSp>
        <p:nvGrpSpPr>
          <p:cNvPr id="57" name="Csoportba foglalás 56">
            <a:extLst>
              <a:ext uri="{FF2B5EF4-FFF2-40B4-BE49-F238E27FC236}">
                <a16:creationId xmlns:a16="http://schemas.microsoft.com/office/drawing/2014/main" id="{A22B750B-52E9-CDBE-3216-0AF440357B71}"/>
              </a:ext>
            </a:extLst>
          </p:cNvPr>
          <p:cNvGrpSpPr/>
          <p:nvPr/>
        </p:nvGrpSpPr>
        <p:grpSpPr>
          <a:xfrm>
            <a:off x="1075882" y="4992619"/>
            <a:ext cx="3053094" cy="1349266"/>
            <a:chOff x="3042906" y="4942478"/>
            <a:chExt cx="3053094" cy="1349266"/>
          </a:xfrm>
        </p:grpSpPr>
        <p:pic>
          <p:nvPicPr>
            <p:cNvPr id="6" name="Ábra 5">
              <a:extLst>
                <a:ext uri="{FF2B5EF4-FFF2-40B4-BE49-F238E27FC236}">
                  <a16:creationId xmlns:a16="http://schemas.microsoft.com/office/drawing/2014/main" id="{9A8DA9A8-2890-FAA6-607C-6FBF14F69E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51528"/>
            <a:stretch/>
          </p:blipFill>
          <p:spPr>
            <a:xfrm>
              <a:off x="3042906" y="5132892"/>
              <a:ext cx="1466850" cy="1158852"/>
            </a:xfrm>
            <a:prstGeom prst="rect">
              <a:avLst/>
            </a:prstGeom>
          </p:spPr>
        </p:pic>
        <p:pic>
          <p:nvPicPr>
            <p:cNvPr id="7" name="Ábra 6">
              <a:extLst>
                <a:ext uri="{FF2B5EF4-FFF2-40B4-BE49-F238E27FC236}">
                  <a16:creationId xmlns:a16="http://schemas.microsoft.com/office/drawing/2014/main" id="{B1E159C0-A572-549D-7A1A-AC8F314478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45359" r="1797"/>
            <a:stretch/>
          </p:blipFill>
          <p:spPr>
            <a:xfrm>
              <a:off x="4655508" y="4942478"/>
              <a:ext cx="1440492" cy="13063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617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290C0B8-A965-1ABB-337A-6DD0E4AD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CEBC-3B63-4262-8BE9-06366B519A9F}" type="slidenum">
              <a:rPr lang="hu-HU" smtClean="0"/>
              <a:pPr/>
              <a:t>2</a:t>
            </a:fld>
            <a:endParaRPr lang="hu-HU" dirty="0"/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C03CC86D-9714-8F77-26FB-14239DA7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Contact info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3D83FC8F-09DC-98BA-D527-73EDC8D11E54}"/>
              </a:ext>
            </a:extLst>
          </p:cNvPr>
          <p:cNvSpPr txBox="1"/>
          <p:nvPr/>
        </p:nvSpPr>
        <p:spPr>
          <a:xfrm>
            <a:off x="2307540" y="4912414"/>
            <a:ext cx="7809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[</a:t>
            </a:r>
            <a:r>
              <a:rPr lang="hu-HU" sz="4400" dirty="0"/>
              <a:t>Intro2ML</a:t>
            </a:r>
            <a:r>
              <a:rPr lang="en-GB" sz="4400" dirty="0"/>
              <a:t>] Your specific subject…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BAF90823-27C9-891A-C913-BAFABD34D78C}"/>
              </a:ext>
            </a:extLst>
          </p:cNvPr>
          <p:cNvSpPr txBox="1"/>
          <p:nvPr/>
        </p:nvSpPr>
        <p:spPr>
          <a:xfrm>
            <a:off x="3895441" y="4719413"/>
            <a:ext cx="4633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emails use the [</a:t>
            </a:r>
            <a:r>
              <a:rPr lang="hu-HU" dirty="0"/>
              <a:t>Intro2ML</a:t>
            </a:r>
            <a:r>
              <a:rPr lang="en-GB" dirty="0"/>
              <a:t>]-tag in the subject: 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A8F495A-3D6E-C8E4-CE31-B009C617F880}"/>
              </a:ext>
            </a:extLst>
          </p:cNvPr>
          <p:cNvSpPr txBox="1"/>
          <p:nvPr/>
        </p:nvSpPr>
        <p:spPr>
          <a:xfrm>
            <a:off x="3436550" y="5586815"/>
            <a:ext cx="588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In case of not using the proper tag answer is not guaranteed.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C0847280-ABF0-2E5D-34F2-5684B47347EF}"/>
              </a:ext>
            </a:extLst>
          </p:cNvPr>
          <p:cNvSpPr/>
          <p:nvPr/>
        </p:nvSpPr>
        <p:spPr>
          <a:xfrm>
            <a:off x="5261876" y="1117062"/>
            <a:ext cx="1901096" cy="264795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F94FD92D-ACE0-C377-DFA8-EDCEAEA26484}"/>
              </a:ext>
            </a:extLst>
          </p:cNvPr>
          <p:cNvSpPr/>
          <p:nvPr/>
        </p:nvSpPr>
        <p:spPr>
          <a:xfrm>
            <a:off x="1794984" y="1116864"/>
            <a:ext cx="1901096" cy="264795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16EAA57E-3A7E-7F40-6CA5-384F5D3612EE}"/>
              </a:ext>
            </a:extLst>
          </p:cNvPr>
          <p:cNvSpPr/>
          <p:nvPr/>
        </p:nvSpPr>
        <p:spPr>
          <a:xfrm>
            <a:off x="8581077" y="1086519"/>
            <a:ext cx="1901096" cy="264795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E62D81EF-F6FB-EE43-3A5D-78567188D914}"/>
              </a:ext>
            </a:extLst>
          </p:cNvPr>
          <p:cNvSpPr txBox="1"/>
          <p:nvPr/>
        </p:nvSpPr>
        <p:spPr>
          <a:xfrm>
            <a:off x="1643372" y="3787846"/>
            <a:ext cx="22043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dirty="0"/>
              <a:t>János </a:t>
            </a:r>
            <a:r>
              <a:rPr lang="hu-HU" dirty="0" err="1"/>
              <a:t>Botzheim</a:t>
            </a:r>
            <a:endParaRPr lang="hu-HU" dirty="0"/>
          </a:p>
          <a:p>
            <a:pPr algn="ctr"/>
            <a:r>
              <a:rPr lang="hu-HU" dirty="0"/>
              <a:t>(</a:t>
            </a:r>
            <a:r>
              <a:rPr lang="hu-HU" dirty="0" err="1"/>
              <a:t>removed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privacy</a:t>
            </a:r>
            <a:r>
              <a:rPr lang="hu-HU" dirty="0"/>
              <a:t>)</a:t>
            </a:r>
            <a:endParaRPr lang="en-US" dirty="0"/>
          </a:p>
          <a:p>
            <a:endParaRPr lang="en-GB" dirty="0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EF477AED-CBF3-DD9C-7EDC-52DEE1FE8898}"/>
              </a:ext>
            </a:extLst>
          </p:cNvPr>
          <p:cNvSpPr txBox="1"/>
          <p:nvPr/>
        </p:nvSpPr>
        <p:spPr>
          <a:xfrm>
            <a:off x="5209206" y="3787846"/>
            <a:ext cx="2262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László Gulyás</a:t>
            </a:r>
            <a:endParaRPr lang="en-US" dirty="0"/>
          </a:p>
          <a:p>
            <a:pPr algn="ctr"/>
            <a:r>
              <a:rPr lang="hu-HU" dirty="0"/>
              <a:t>(</a:t>
            </a:r>
            <a:r>
              <a:rPr lang="hu-HU" dirty="0" err="1"/>
              <a:t>removed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privacy</a:t>
            </a:r>
            <a:r>
              <a:rPr lang="hu-HU" dirty="0"/>
              <a:t>)</a:t>
            </a:r>
            <a:endParaRPr lang="en-US" dirty="0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FC42B95E-C022-CB0C-32A8-11DB2523C55C}"/>
              </a:ext>
            </a:extLst>
          </p:cNvPr>
          <p:cNvSpPr txBox="1"/>
          <p:nvPr/>
        </p:nvSpPr>
        <p:spPr>
          <a:xfrm>
            <a:off x="8415038" y="3787846"/>
            <a:ext cx="240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Balázs Nagy</a:t>
            </a:r>
          </a:p>
          <a:p>
            <a:pPr algn="ctr"/>
            <a:r>
              <a:rPr lang="hu-HU" dirty="0"/>
              <a:t>(</a:t>
            </a:r>
            <a:r>
              <a:rPr lang="hu-HU" dirty="0" err="1"/>
              <a:t>removed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privacy</a:t>
            </a:r>
            <a:r>
              <a:rPr lang="hu-H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018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talom helye 1">
            <a:extLst>
              <a:ext uri="{FF2B5EF4-FFF2-40B4-BE49-F238E27FC236}">
                <a16:creationId xmlns:a16="http://schemas.microsoft.com/office/drawing/2014/main" id="{9154D16D-7A87-5756-6E0D-880CB0C4D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Canvas</a:t>
            </a:r>
          </a:p>
          <a:p>
            <a:pPr lvl="1"/>
            <a:r>
              <a:rPr lang="en-GB"/>
              <a:t>Lecture presentations</a:t>
            </a:r>
          </a:p>
          <a:p>
            <a:pPr lvl="1"/>
            <a:r>
              <a:rPr lang="en-GB"/>
              <a:t>Assignments</a:t>
            </a:r>
          </a:p>
          <a:p>
            <a:pPr lvl="1"/>
            <a:r>
              <a:rPr lang="en-GB"/>
              <a:t>Points</a:t>
            </a:r>
            <a:endParaRPr lang="en-GB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03A7788-2C8A-67B2-49D4-BD31C3C4F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CEBC-3B63-4262-8BE9-06366B519A9F}" type="slidenum">
              <a:rPr lang="hu-HU" smtClean="0"/>
              <a:pPr/>
              <a:t>3</a:t>
            </a:fld>
            <a:endParaRPr lang="hu-HU" dirty="0"/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7DC506B1-C1DD-9662-6768-E6D8DCF2A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Information channels</a:t>
            </a:r>
          </a:p>
        </p:txBody>
      </p:sp>
      <p:pic>
        <p:nvPicPr>
          <p:cNvPr id="8" name="Kép 7" descr="A képen szöveg, Grafika, Betűtípus, Grafikus tervezés látható&#10;&#10;Automatikusan generált leírás">
            <a:extLst>
              <a:ext uri="{FF2B5EF4-FFF2-40B4-BE49-F238E27FC236}">
                <a16:creationId xmlns:a16="http://schemas.microsoft.com/office/drawing/2014/main" id="{5122A090-7009-82E4-6369-ED50C70471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26"/>
          <a:stretch/>
        </p:blipFill>
        <p:spPr>
          <a:xfrm>
            <a:off x="8153524" y="2181882"/>
            <a:ext cx="2756204" cy="249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80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rtalom helye 6">
            <a:extLst>
              <a:ext uri="{FF2B5EF4-FFF2-40B4-BE49-F238E27FC236}">
                <a16:creationId xmlns:a16="http://schemas.microsoft.com/office/drawing/2014/main" id="{7C66B619-A454-CEFF-5175-B7D30E8F2D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342960"/>
              </p:ext>
            </p:extLst>
          </p:nvPr>
        </p:nvGraphicFramePr>
        <p:xfrm>
          <a:off x="838200" y="1467168"/>
          <a:ext cx="548259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167">
                  <a:extLst>
                    <a:ext uri="{9D8B030D-6E8A-4147-A177-3AD203B41FA5}">
                      <a16:colId xmlns:a16="http://schemas.microsoft.com/office/drawing/2014/main" val="4019749213"/>
                    </a:ext>
                  </a:extLst>
                </a:gridCol>
                <a:gridCol w="3975423">
                  <a:extLst>
                    <a:ext uri="{9D8B030D-6E8A-4147-A177-3AD203B41FA5}">
                      <a16:colId xmlns:a16="http://schemas.microsoft.com/office/drawing/2014/main" val="194601044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hu-HU" dirty="0" err="1"/>
                        <a:t>Lectures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516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err="1"/>
                        <a:t>Place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South</a:t>
                      </a:r>
                      <a:r>
                        <a:rPr lang="hu-HU" dirty="0"/>
                        <a:t> building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0-821 Bolyai János room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217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Monday</a:t>
                      </a:r>
                      <a:r>
                        <a:rPr lang="hu-HU" dirty="0"/>
                        <a:t> </a:t>
                      </a:r>
                      <a:r>
                        <a:rPr lang="en-US" dirty="0"/>
                        <a:t>16</a:t>
                      </a:r>
                      <a:r>
                        <a:rPr lang="hu-HU" dirty="0"/>
                        <a:t>:</a:t>
                      </a:r>
                      <a:r>
                        <a:rPr lang="en-US" dirty="0"/>
                        <a:t>10</a:t>
                      </a:r>
                      <a:r>
                        <a:rPr lang="hu-HU" dirty="0"/>
                        <a:t> – </a:t>
                      </a:r>
                      <a:r>
                        <a:rPr lang="en-US" dirty="0"/>
                        <a:t>16</a:t>
                      </a:r>
                      <a:r>
                        <a:rPr lang="hu-HU" dirty="0"/>
                        <a:t>:</a:t>
                      </a:r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80946"/>
                  </a:ext>
                </a:extLst>
              </a:tr>
            </a:tbl>
          </a:graphicData>
        </a:graphic>
      </p:graphicFrame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217FB64-75EB-C685-3B70-330E9258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CEBC-3B63-4262-8BE9-06366B519A9F}" type="slidenum">
              <a:rPr lang="hu-HU" smtClean="0"/>
              <a:pPr/>
              <a:t>4</a:t>
            </a:fld>
            <a:endParaRPr lang="hu-HU" dirty="0"/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1AEB1076-C94F-7BAA-71BD-A16F9D50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Classes</a:t>
            </a:r>
          </a:p>
        </p:txBody>
      </p:sp>
      <p:sp>
        <p:nvSpPr>
          <p:cNvPr id="18" name="Nyíl: jobbra mutató 17">
            <a:extLst>
              <a:ext uri="{FF2B5EF4-FFF2-40B4-BE49-F238E27FC236}">
                <a16:creationId xmlns:a16="http://schemas.microsoft.com/office/drawing/2014/main" id="{9A69A3FF-C2FF-95A2-1892-7818FD38B347}"/>
              </a:ext>
            </a:extLst>
          </p:cNvPr>
          <p:cNvSpPr/>
          <p:nvPr/>
        </p:nvSpPr>
        <p:spPr>
          <a:xfrm>
            <a:off x="6872176" y="1840865"/>
            <a:ext cx="434340" cy="365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artalom helye 1">
            <a:extLst>
              <a:ext uri="{FF2B5EF4-FFF2-40B4-BE49-F238E27FC236}">
                <a16:creationId xmlns:a16="http://schemas.microsoft.com/office/drawing/2014/main" id="{AAA7E35D-D887-33E6-47DF-E3F2F0E64891}"/>
              </a:ext>
            </a:extLst>
          </p:cNvPr>
          <p:cNvSpPr txBox="1">
            <a:spLocks/>
          </p:cNvSpPr>
          <p:nvPr/>
        </p:nvSpPr>
        <p:spPr>
          <a:xfrm>
            <a:off x="7635240" y="1204032"/>
            <a:ext cx="3055620" cy="2320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Every week</a:t>
            </a:r>
            <a:endParaRPr lang="hu-HU" dirty="0"/>
          </a:p>
          <a:p>
            <a:r>
              <a:rPr lang="hu-HU" dirty="0"/>
              <a:t>45 min</a:t>
            </a:r>
            <a:endParaRPr lang="en-GB" dirty="0"/>
          </a:p>
          <a:p>
            <a:r>
              <a:rPr lang="en-GB" dirty="0"/>
              <a:t>In person</a:t>
            </a:r>
          </a:p>
          <a:p>
            <a:r>
              <a:rPr lang="en-GB" dirty="0"/>
              <a:t>Catalogue</a:t>
            </a:r>
          </a:p>
        </p:txBody>
      </p:sp>
      <p:sp>
        <p:nvSpPr>
          <p:cNvPr id="9" name="Tartalom helye 1">
            <a:extLst>
              <a:ext uri="{FF2B5EF4-FFF2-40B4-BE49-F238E27FC236}">
                <a16:creationId xmlns:a16="http://schemas.microsoft.com/office/drawing/2014/main" id="{0CB349E4-028A-6720-C375-BF3514195ABF}"/>
              </a:ext>
            </a:extLst>
          </p:cNvPr>
          <p:cNvSpPr txBox="1">
            <a:spLocks/>
          </p:cNvSpPr>
          <p:nvPr/>
        </p:nvSpPr>
        <p:spPr>
          <a:xfrm>
            <a:off x="838200" y="3338097"/>
            <a:ext cx="10515600" cy="2603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28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buNone/>
            </a:pPr>
            <a:r>
              <a:rPr lang="en-GB" b="1" dirty="0">
                <a:solidFill>
                  <a:srgbClr val="012851"/>
                </a:solidFill>
              </a:rPr>
              <a:t>Catalogue rule:</a:t>
            </a:r>
          </a:p>
          <a:p>
            <a:pPr>
              <a:lnSpc>
                <a:spcPct val="140000"/>
              </a:lnSpc>
            </a:pPr>
            <a:r>
              <a:rPr lang="en-GB" dirty="0">
                <a:solidFill>
                  <a:srgbClr val="012851"/>
                </a:solidFill>
              </a:rPr>
              <a:t>Every student can miss 3 lectures without consequences</a:t>
            </a:r>
          </a:p>
          <a:p>
            <a:pPr>
              <a:lnSpc>
                <a:spcPct val="140000"/>
              </a:lnSpc>
            </a:pPr>
            <a:r>
              <a:rPr lang="en-GB" dirty="0">
                <a:solidFill>
                  <a:srgbClr val="012851"/>
                </a:solidFill>
              </a:rPr>
              <a:t>With more than 3 misses the student is not eligible to complete the course </a:t>
            </a:r>
          </a:p>
          <a:p>
            <a:pPr>
              <a:lnSpc>
                <a:spcPct val="140000"/>
              </a:lnSpc>
            </a:pPr>
            <a:r>
              <a:rPr lang="en-GB" dirty="0">
                <a:solidFill>
                  <a:srgbClr val="012851"/>
                </a:solidFill>
              </a:rPr>
              <a:t>Misses can be covered only</a:t>
            </a:r>
            <a:r>
              <a:rPr lang="hu-HU" dirty="0">
                <a:solidFill>
                  <a:srgbClr val="012851"/>
                </a:solidFill>
              </a:rPr>
              <a:t> </a:t>
            </a:r>
            <a:r>
              <a:rPr lang="en-GB" dirty="0">
                <a:solidFill>
                  <a:srgbClr val="012851"/>
                </a:solidFill>
              </a:rPr>
              <a:t>with medical papers signed and certified by an official doctor</a:t>
            </a:r>
          </a:p>
          <a:p>
            <a:pPr>
              <a:lnSpc>
                <a:spcPct val="140000"/>
              </a:lnSpc>
            </a:pPr>
            <a:r>
              <a:rPr lang="en-GB" dirty="0">
                <a:solidFill>
                  <a:srgbClr val="012851"/>
                </a:solidFill>
              </a:rPr>
              <a:t>Students with good grades or students with international scholarships can be exempted from this rule</a:t>
            </a:r>
          </a:p>
        </p:txBody>
      </p:sp>
    </p:spTree>
    <p:extLst>
      <p:ext uri="{BB962C8B-B14F-4D97-AF65-F5344CB8AC3E}">
        <p14:creationId xmlns:p14="http://schemas.microsoft.com/office/powerpoint/2010/main" val="428425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915D-597B-9738-392A-567D118A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C07B37D-B61C-47B0-5A97-0B103A23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CEBC-3B63-4262-8BE9-06366B519A9F}" type="slidenum">
              <a:rPr lang="hu-HU" smtClean="0"/>
              <a:pPr/>
              <a:t>5</a:t>
            </a:fld>
            <a:endParaRPr lang="hu-HU" dirty="0"/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55FFD8B1-1ED3-B65C-3453-F859BC23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Projected Schedule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95B932-5F0D-5021-4CC8-381A8F05C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50" y="938154"/>
            <a:ext cx="9131300" cy="498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7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talom helye 1">
            <a:extLst>
              <a:ext uri="{FF2B5EF4-FFF2-40B4-BE49-F238E27FC236}">
                <a16:creationId xmlns:a16="http://schemas.microsoft.com/office/drawing/2014/main" id="{0734948D-A3E8-A720-3249-2DDD4577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719"/>
            <a:ext cx="7391400" cy="4844340"/>
          </a:xfrm>
        </p:spPr>
        <p:txBody>
          <a:bodyPr>
            <a:normAutofit/>
          </a:bodyPr>
          <a:lstStyle/>
          <a:p>
            <a:r>
              <a:rPr lang="hu-HU" dirty="0"/>
              <a:t>2</a:t>
            </a:r>
            <a:r>
              <a:rPr lang="en-GB" dirty="0"/>
              <a:t> homework assignments</a:t>
            </a:r>
            <a:r>
              <a:rPr lang="hu-HU" dirty="0"/>
              <a:t> (10 points each)</a:t>
            </a:r>
          </a:p>
          <a:p>
            <a:pPr lvl="1"/>
            <a:r>
              <a:rPr lang="en-GB" dirty="0"/>
              <a:t>Provided by the lecturers during the semester</a:t>
            </a:r>
          </a:p>
          <a:p>
            <a:pPr lvl="1"/>
            <a:r>
              <a:rPr lang="hu-HU" dirty="0" err="1"/>
              <a:t>Not</a:t>
            </a:r>
            <a:r>
              <a:rPr lang="hu-HU" dirty="0"/>
              <a:t> m</a:t>
            </a:r>
            <a:r>
              <a:rPr lang="en-GB" dirty="0" err="1"/>
              <a:t>andatory</a:t>
            </a:r>
            <a:r>
              <a:rPr lang="en-GB" dirty="0"/>
              <a:t> to be eligible for the exam</a:t>
            </a:r>
          </a:p>
          <a:p>
            <a:pPr lvl="1"/>
            <a:r>
              <a:rPr lang="en-GB" b="1" dirty="0"/>
              <a:t>Due dates are part of the assignment</a:t>
            </a:r>
          </a:p>
          <a:p>
            <a:r>
              <a:rPr lang="hu-HU" dirty="0" err="1"/>
              <a:t>Final</a:t>
            </a:r>
            <a:r>
              <a:rPr lang="hu-HU" dirty="0"/>
              <a:t> </a:t>
            </a:r>
            <a:r>
              <a:rPr lang="en-GB" dirty="0"/>
              <a:t>exam</a:t>
            </a:r>
            <a:r>
              <a:rPr lang="hu-HU" dirty="0"/>
              <a:t> (</a:t>
            </a:r>
            <a:r>
              <a:rPr lang="en-US" dirty="0"/>
              <a:t>80</a:t>
            </a:r>
            <a:r>
              <a:rPr lang="hu-HU" dirty="0"/>
              <a:t> points)</a:t>
            </a:r>
          </a:p>
          <a:p>
            <a:pPr lvl="1"/>
            <a:r>
              <a:rPr lang="hu-HU" dirty="0"/>
              <a:t>Time: 2025.</a:t>
            </a:r>
            <a:r>
              <a:rPr lang="en-US" dirty="0"/>
              <a:t>12</a:t>
            </a:r>
            <a:r>
              <a:rPr lang="hu-HU" dirty="0"/>
              <a:t>.</a:t>
            </a:r>
            <a:r>
              <a:rPr lang="en-US" dirty="0"/>
              <a:t>15</a:t>
            </a:r>
            <a:r>
              <a:rPr lang="hu-HU" dirty="0"/>
              <a:t>. – 202</a:t>
            </a:r>
            <a:r>
              <a:rPr lang="en-US" dirty="0"/>
              <a:t>6</a:t>
            </a:r>
            <a:r>
              <a:rPr lang="hu-HU" dirty="0"/>
              <a:t>.0</a:t>
            </a:r>
            <a:r>
              <a:rPr lang="en-US" dirty="0"/>
              <a:t>1</a:t>
            </a:r>
            <a:r>
              <a:rPr lang="hu-HU" dirty="0"/>
              <a:t>.</a:t>
            </a:r>
            <a:r>
              <a:rPr lang="en-US" dirty="0"/>
              <a:t>31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3 </a:t>
            </a:r>
            <a:r>
              <a:rPr lang="en-GB" dirty="0"/>
              <a:t>occasion</a:t>
            </a:r>
            <a:r>
              <a:rPr lang="hu-HU" dirty="0"/>
              <a:t> – 2 </a:t>
            </a:r>
            <a:r>
              <a:rPr lang="en-US" dirty="0"/>
              <a:t>tries</a:t>
            </a:r>
          </a:p>
          <a:p>
            <a:pPr lvl="1"/>
            <a:r>
              <a:rPr lang="en-GB" dirty="0"/>
              <a:t>New grade will </a:t>
            </a:r>
            <a:r>
              <a:rPr lang="en-GB" b="1" dirty="0"/>
              <a:t>overwrite</a:t>
            </a:r>
            <a:r>
              <a:rPr lang="en-GB" dirty="0"/>
              <a:t> the previous grade</a:t>
            </a:r>
          </a:p>
          <a:p>
            <a:pPr lvl="1"/>
            <a:r>
              <a:rPr lang="hu-HU" dirty="0" err="1"/>
              <a:t>Paper</a:t>
            </a:r>
            <a:r>
              <a:rPr lang="hu-HU" dirty="0"/>
              <a:t> and Pen </a:t>
            </a:r>
            <a:r>
              <a:rPr lang="hu-HU" dirty="0" err="1"/>
              <a:t>style</a:t>
            </a:r>
            <a:endParaRPr lang="en-GB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C404E2C-D29D-07D8-C80F-A41C3B271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ECEBC-3B63-4262-8BE9-06366B519A9F}" type="slidenum">
              <a:rPr lang="hu-HU" smtClean="0"/>
              <a:pPr/>
              <a:t>6</a:t>
            </a:fld>
            <a:endParaRPr lang="hu-HU" dirty="0"/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8CD1591C-7220-90D3-60EF-EBFAD4ED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Grading</a:t>
            </a:r>
          </a:p>
        </p:txBody>
      </p:sp>
      <p:graphicFrame>
        <p:nvGraphicFramePr>
          <p:cNvPr id="7" name="Táblázat 6">
            <a:extLst>
              <a:ext uri="{FF2B5EF4-FFF2-40B4-BE49-F238E27FC236}">
                <a16:creationId xmlns:a16="http://schemas.microsoft.com/office/drawing/2014/main" id="{0F2DD00A-747F-C791-CC51-EAB1E1D03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110223"/>
              </p:ext>
            </p:extLst>
          </p:nvPr>
        </p:nvGraphicFramePr>
        <p:xfrm>
          <a:off x="8652933" y="2895600"/>
          <a:ext cx="306493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467">
                  <a:extLst>
                    <a:ext uri="{9D8B030D-6E8A-4147-A177-3AD203B41FA5}">
                      <a16:colId xmlns:a16="http://schemas.microsoft.com/office/drawing/2014/main" val="3474202148"/>
                    </a:ext>
                  </a:extLst>
                </a:gridCol>
                <a:gridCol w="1532467">
                  <a:extLst>
                    <a:ext uri="{9D8B030D-6E8A-4147-A177-3AD203B41FA5}">
                      <a16:colId xmlns:a16="http://schemas.microsoft.com/office/drawing/2014/main" val="115716389"/>
                    </a:ext>
                  </a:extLst>
                </a:gridCol>
              </a:tblGrid>
              <a:tr h="423171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 err="1"/>
                        <a:t>Points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 err="1"/>
                        <a:t>Grade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059549"/>
                  </a:ext>
                </a:extLst>
              </a:tr>
              <a:tr h="423171"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0-39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311848"/>
                  </a:ext>
                </a:extLst>
              </a:tr>
              <a:tr h="423171"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40-54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416775"/>
                  </a:ext>
                </a:extLst>
              </a:tr>
              <a:tr h="423171"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55-69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400953"/>
                  </a:ext>
                </a:extLst>
              </a:tr>
              <a:tr h="423171"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70-84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9615"/>
                  </a:ext>
                </a:extLst>
              </a:tr>
              <a:tr h="417374"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85-1</a:t>
                      </a:r>
                      <a:r>
                        <a:rPr lang="en-US" sz="2400" b="1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273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871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887D79-A9CC-4FD1-A8B9-D42E56372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456" y="2519818"/>
            <a:ext cx="8385544" cy="108442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500" spc="3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Thank you for your attention!</a:t>
            </a:r>
            <a:endParaRPr lang="hu-HU" sz="3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91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5027</TotalTime>
  <Words>256</Words>
  <Application>Microsoft Office PowerPoint</Application>
  <PresentationFormat>Szélesvásznú</PresentationFormat>
  <Paragraphs>62</Paragraphs>
  <Slides>7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</vt:lpstr>
      <vt:lpstr>Calibri</vt:lpstr>
      <vt:lpstr>Open Sans</vt:lpstr>
      <vt:lpstr>Office-téma</vt:lpstr>
      <vt:lpstr>Rules and Mindset</vt:lpstr>
      <vt:lpstr>Contact info</vt:lpstr>
      <vt:lpstr>Information channels</vt:lpstr>
      <vt:lpstr>Classes</vt:lpstr>
      <vt:lpstr>Projected Schedule</vt:lpstr>
      <vt:lpstr>Grading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 címe Prezentáció alcíme</dc:title>
  <dc:creator>Domonkos Márk</dc:creator>
  <cp:lastModifiedBy>Kristóf Herceg</cp:lastModifiedBy>
  <cp:revision>121</cp:revision>
  <dcterms:created xsi:type="dcterms:W3CDTF">2022-01-03T10:33:56Z</dcterms:created>
  <dcterms:modified xsi:type="dcterms:W3CDTF">2025-12-13T00:55:28Z</dcterms:modified>
</cp:coreProperties>
</file>